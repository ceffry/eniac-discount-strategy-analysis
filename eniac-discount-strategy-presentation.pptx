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9ce556346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9ce556346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9ce556346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9ce55634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9ce556346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9ce55634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9ccb468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9ccb468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Ciba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b83f60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8b83f60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Ciba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b83f609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b83f609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Ciba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8b83f609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8b83f609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Javier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b83f609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8b83f609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Javier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b83f609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8b83f609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Robert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9fbb2a88d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9fbb2a88d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Tatiana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Since Eniac’s main focus is on premium, high end tech, we decided to separate out this category and see if it behaves similarly to the rest of our products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 this graph, the high-end tech is represented by the orange line, as opposed to the other products in gray.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we observe here is that high-end tech generates more revenue when discounted - the solid line WITH discount is much higher than the dotted line with NO discount</a:t>
            </a:r>
            <a:br>
              <a:rPr lang="en-GB"/>
            </a:br>
            <a:r>
              <a:rPr lang="en-GB"/>
              <a:t>This is </a:t>
            </a:r>
            <a:r>
              <a:rPr lang="en-GB"/>
              <a:t>similar</a:t>
            </a:r>
            <a:r>
              <a:rPr lang="en-GB"/>
              <a:t> </a:t>
            </a:r>
            <a:r>
              <a:rPr lang="en-GB"/>
              <a:t>between</a:t>
            </a:r>
            <a:r>
              <a:rPr lang="en-GB"/>
              <a:t> the high end tech and other products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different though is that the high-end tech does not generate as much revenue as the other products, so high-end tech is not our core category at the </a:t>
            </a:r>
            <a:r>
              <a:rPr lang="en-GB"/>
              <a:t>moment.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final thing that we can see here is that there is a peak in revenue around the end of year for both product types, and if we zoom in on this seasonality…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8b83f609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8b83f609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Tatiana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… we will see that the peaks are on Black Friday and around Christmas, the 2 highlighted time periods here</a:t>
            </a:r>
            <a:br>
              <a:rPr lang="en-GB"/>
            </a:br>
            <a:r>
              <a:rPr lang="en-GB"/>
              <a:t>And - during these peak times the discounts are still quite moderate - look at the two bold lines. The discounts remain </a:t>
            </a:r>
            <a:r>
              <a:rPr lang="en-GB"/>
              <a:t>around 20%, not much different from the average discount throughout the year.</a:t>
            </a:r>
            <a:br>
              <a:rPr lang="en-GB"/>
            </a:br>
            <a:r>
              <a:rPr lang="en-GB"/>
              <a:t>So our customers do buy seasonally but this is not because of aggressive discounts!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b83f609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8b83f609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Robert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ce55634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9ce55634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1159950" y="1567900"/>
            <a:ext cx="68241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Eniac’s Discount Strategy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-GB"/>
              <a:t>Eniac’s Discount Strategy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rgbClr val="292929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rgbClr val="292929"/>
                </a:solidFill>
                <a:highlight>
                  <a:schemeClr val="lt1"/>
                </a:highlight>
              </a:rPr>
              <a:t>Are discounts beneficial?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Eniac’s Discount Strategy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43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292929"/>
                </a:solidFill>
                <a:highlight>
                  <a:schemeClr val="lt1"/>
                </a:highlight>
              </a:rPr>
              <a:t>Are discounts beneficial?</a:t>
            </a:r>
            <a:endParaRPr sz="2500">
              <a:solidFill>
                <a:srgbClr val="292929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92929"/>
                </a:solidFill>
                <a:highlight>
                  <a:schemeClr val="lt1"/>
                </a:highlight>
              </a:rPr>
              <a:t>Marketing Team: discounts    ⇒   attract customers</a:t>
            </a:r>
            <a:endParaRPr sz="2200">
              <a:solidFill>
                <a:srgbClr val="292929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92929"/>
                </a:solidFill>
                <a:highlight>
                  <a:schemeClr val="lt1"/>
                </a:highlight>
              </a:rPr>
              <a:t>Board:</a:t>
            </a:r>
            <a:r>
              <a:rPr i="1" lang="en-GB" sz="2200">
                <a:solidFill>
                  <a:srgbClr val="292929"/>
                </a:solidFill>
                <a:highlight>
                  <a:schemeClr val="lt1"/>
                </a:highlight>
              </a:rPr>
              <a:t> aggressive </a:t>
            </a:r>
            <a:r>
              <a:rPr lang="en-GB" sz="2200">
                <a:solidFill>
                  <a:srgbClr val="292929"/>
                </a:solidFill>
                <a:highlight>
                  <a:schemeClr val="lt1"/>
                </a:highlight>
              </a:rPr>
              <a:t>discounting ⇒</a:t>
            </a:r>
            <a:endParaRPr sz="2200">
              <a:solidFill>
                <a:srgbClr val="292929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92929"/>
                </a:solidFill>
                <a:highlight>
                  <a:schemeClr val="lt1"/>
                </a:highlight>
              </a:rPr>
              <a:t> - hurt revenue </a:t>
            </a:r>
            <a:endParaRPr sz="2200">
              <a:solidFill>
                <a:srgbClr val="292929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200">
                <a:solidFill>
                  <a:srgbClr val="292929"/>
                </a:solidFill>
                <a:highlight>
                  <a:schemeClr val="lt1"/>
                </a:highlight>
              </a:rPr>
              <a:t> - weaken Eniac’s position as a </a:t>
            </a:r>
            <a:r>
              <a:rPr i="1" lang="en-GB" sz="2200">
                <a:solidFill>
                  <a:srgbClr val="292929"/>
                </a:solidFill>
                <a:highlight>
                  <a:schemeClr val="lt1"/>
                </a:highlight>
              </a:rPr>
              <a:t>quality‑focused </a:t>
            </a:r>
            <a:r>
              <a:rPr lang="en-GB" sz="2200">
                <a:solidFill>
                  <a:srgbClr val="292929"/>
                </a:solidFill>
                <a:highlight>
                  <a:schemeClr val="lt1"/>
                </a:highlight>
              </a:rPr>
              <a:t>brand </a:t>
            </a:r>
            <a:endParaRPr sz="2200">
              <a:solidFill>
                <a:srgbClr val="292929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26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Eniac’s Discount Strategy</a:t>
            </a:r>
            <a:endParaRPr b="1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4975" y="999650"/>
            <a:ext cx="6263400" cy="39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292929"/>
                </a:solidFill>
                <a:highlight>
                  <a:srgbClr val="FFFFFF"/>
                </a:highlight>
              </a:rPr>
              <a:t>Are discounts beneficial?</a:t>
            </a:r>
            <a:endParaRPr sz="25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indent="457200" lvl="0" marL="3200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292929"/>
                </a:solidFill>
                <a:highlight>
                  <a:srgbClr val="FFFFFF"/>
                </a:highlight>
              </a:rPr>
              <a:t>Yes!</a:t>
            </a:r>
            <a:endParaRPr sz="25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 title="Discount-Transparent-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862" y="2115524"/>
            <a:ext cx="3714273" cy="286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Most sold products are discounted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313" y="1086700"/>
            <a:ext cx="511737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18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Most of the revenue comes from discounted products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6625"/>
            <a:ext cx="8231254" cy="40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No decrease in revenue and increase in orders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38" y="1170125"/>
            <a:ext cx="849192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Discounts are moderate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938" y="1017725"/>
            <a:ext cx="771213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255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Discounts are moderate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1213" y="827900"/>
            <a:ext cx="4775571" cy="40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228075"/>
            <a:ext cx="8520600" cy="9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High-end tech: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89"/>
              <a:t>More revenue when discounted, but not much revenue</a:t>
            </a:r>
            <a:r>
              <a:rPr lang="en-GB" sz="2689"/>
              <a:t> </a:t>
            </a:r>
            <a:r>
              <a:rPr lang="en-GB" sz="1889"/>
              <a:t>altogether.</a:t>
            </a:r>
            <a:endParaRPr/>
          </a:p>
        </p:txBody>
      </p:sp>
      <p:sp>
        <p:nvSpPr>
          <p:cNvPr id="109" name="Google Shape;109;p22"/>
          <p:cNvSpPr txBox="1"/>
          <p:nvPr/>
        </p:nvSpPr>
        <p:spPr>
          <a:xfrm>
            <a:off x="7615575" y="1155675"/>
            <a:ext cx="1426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High-end tech: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500"/>
            </a:br>
            <a:r>
              <a:rPr lang="en-GB" sz="1500"/>
              <a:t>Desktops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Laptops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Smartphones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iPads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iPods</a:t>
            </a:r>
            <a:endParaRPr sz="1500"/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155675"/>
            <a:ext cx="7325875" cy="38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Customers</a:t>
            </a:r>
            <a:r>
              <a:rPr lang="en-GB"/>
              <a:t> buy seasonally but not because of discounts!</a:t>
            </a:r>
            <a:endParaRPr/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33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 up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Action points:</a:t>
            </a:r>
            <a:br>
              <a:rPr lang="en-GB"/>
            </a:br>
            <a:r>
              <a:rPr lang="en-GB"/>
              <a:t>	- Keep discounts around 20%</a:t>
            </a:r>
            <a:br>
              <a:rPr lang="en-GB"/>
            </a:br>
            <a:r>
              <a:rPr lang="en-GB"/>
              <a:t>	- To place ourselves in the quality segment, increase sales of high-end tech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 improvements for future analyses:</a:t>
            </a:r>
            <a:br>
              <a:rPr lang="en-GB"/>
            </a:br>
            <a:r>
              <a:rPr lang="en-GB"/>
              <a:t>	- Missing data</a:t>
            </a:r>
            <a:br>
              <a:rPr lang="en-GB"/>
            </a:br>
            <a:r>
              <a:rPr lang="en-GB"/>
              <a:t>	- Customer data</a:t>
            </a:r>
            <a:br>
              <a:rPr lang="en-GB"/>
            </a:br>
            <a:r>
              <a:rPr lang="en-GB"/>
              <a:t>	- Human-readable product categories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5" title="thank-you-handwritten-isolated-on-white-background-hand-drawn-lettering-style-one-line-drawing-signature-calligraphy-monoline-illustration-ve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25" y="704325"/>
            <a:ext cx="8744750" cy="333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